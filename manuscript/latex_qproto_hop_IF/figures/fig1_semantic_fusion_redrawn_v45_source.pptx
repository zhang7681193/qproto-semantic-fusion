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633704" cy="9646920"/>
  <p:notesSz cx="9646920" cy="136337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Relationship Id="rId24" Type="http://schemas.openxmlformats.org/officeDocument/2006/relationships/image" Target="../media/image1.png"/><Relationship Id="rId2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2984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Protocol-defined semantic fusion for heterogeneous source-coordinate observations</a:t>
            </a:r>
            <a:endParaRPr lang="en-US" sz="2480" dirty="0"/>
          </a:p>
        </p:txBody>
      </p:sp>
      <p:sp>
        <p:nvSpPr>
          <p:cNvPr id="3" name="Text 1"/>
          <p:cNvSpPr/>
          <p:nvPr/>
        </p:nvSpPr>
        <p:spPr>
          <a:xfrm>
            <a:off x="1417320" y="658368"/>
            <a:ext cx="10835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comparability before aggregation: schema binding, value-mask records, and optional high-order fusion.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2029968" cy="5925312"/>
          </a:xfrm>
          <a:prstGeom prst="roundRect">
            <a:avLst>
              <a:gd name="adj" fmla="val 4505"/>
            </a:avLst>
          </a:prstGeom>
          <a:solidFill>
            <a:srgbClr val="FFF4ED"/>
          </a:solidFill>
          <a:ln w="13970">
            <a:solidFill>
              <a:srgbClr val="D65A1B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" y="1344168"/>
            <a:ext cx="329184" cy="329184"/>
          </a:xfrm>
          <a:prstGeom prst="ellipse">
            <a:avLst/>
          </a:prstGeom>
          <a:solidFill>
            <a:srgbClr val="D65A1B"/>
          </a:solidFill>
          <a:ln w="12700">
            <a:solidFill>
              <a:srgbClr val="D65A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280160"/>
            <a:ext cx="1435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5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D65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42032" y="1143000"/>
            <a:ext cx="2011680" cy="5925312"/>
          </a:xfrm>
          <a:prstGeom prst="roundRect">
            <a:avLst>
              <a:gd name="adj" fmla="val 4545"/>
            </a:avLst>
          </a:prstGeom>
          <a:solidFill>
            <a:srgbClr val="F3FAFF"/>
          </a:solidFill>
          <a:ln w="13970">
            <a:solidFill>
              <a:srgbClr val="1478BE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60904" y="1344168"/>
            <a:ext cx="329184" cy="329184"/>
          </a:xfrm>
          <a:prstGeom prst="ellipse">
            <a:avLst/>
          </a:prstGeom>
          <a:solidFill>
            <a:srgbClr val="1478BE"/>
          </a:solidFill>
          <a:ln w="12700">
            <a:solidFill>
              <a:srgbClr val="147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0904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54096" y="1280160"/>
            <a:ext cx="141732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7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schema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47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91456" y="1143000"/>
            <a:ext cx="1810512" cy="5925312"/>
          </a:xfrm>
          <a:prstGeom prst="roundRect">
            <a:avLst>
              <a:gd name="adj" fmla="val 5051"/>
            </a:avLst>
          </a:prstGeom>
          <a:solidFill>
            <a:srgbClr val="F2FFFF"/>
          </a:solidFill>
          <a:ln w="13970">
            <a:solidFill>
              <a:srgbClr val="0B8792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0328" y="1344168"/>
            <a:ext cx="329184" cy="329184"/>
          </a:xfrm>
          <a:prstGeom prst="ellipse">
            <a:avLst/>
          </a:prstGeom>
          <a:solidFill>
            <a:srgbClr val="0B8792"/>
          </a:solidFill>
          <a:ln w="12700">
            <a:solidFill>
              <a:srgbClr val="0B87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280160"/>
            <a:ext cx="1216152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Value–mask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21424" y="1143000"/>
            <a:ext cx="2075688" cy="5925312"/>
          </a:xfrm>
          <a:prstGeom prst="roundRect">
            <a:avLst>
              <a:gd name="adj" fmla="val 4405"/>
            </a:avLst>
          </a:prstGeom>
          <a:solidFill>
            <a:srgbClr val="F6FFF2"/>
          </a:solidFill>
          <a:ln w="13970">
            <a:solidFill>
              <a:srgbClr val="2F7D32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0296" y="1344168"/>
            <a:ext cx="329184" cy="329184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0296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33488" y="1280160"/>
            <a:ext cx="148132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F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0" y="1143000"/>
            <a:ext cx="1828800" cy="5925312"/>
          </a:xfrm>
          <a:prstGeom prst="roundRect">
            <a:avLst>
              <a:gd name="adj" fmla="val 5000"/>
            </a:avLst>
          </a:prstGeom>
          <a:solidFill>
            <a:srgbClr val="F8F7FF"/>
          </a:solidFill>
          <a:ln w="13970">
            <a:solidFill>
              <a:srgbClr val="2D286E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62872" y="1344168"/>
            <a:ext cx="329184" cy="329184"/>
          </a:xfrm>
          <a:prstGeom prst="ellipse">
            <a:avLst/>
          </a:prstGeom>
          <a:solidFill>
            <a:srgbClr val="2D286E"/>
          </a:solidFill>
          <a:ln w="12700">
            <a:solidFill>
              <a:srgbClr val="2D28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1353312"/>
            <a:ext cx="329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56064" y="1280160"/>
            <a:ext cx="12344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2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D2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173968" y="1143000"/>
            <a:ext cx="2029968" cy="5925312"/>
          </a:xfrm>
          <a:prstGeom prst="roundRect">
            <a:avLst>
              <a:gd name="adj" fmla="val 4505"/>
            </a:avLst>
          </a:prstGeom>
          <a:solidFill>
            <a:srgbClr val="FAFAFA"/>
          </a:solidFill>
          <a:ln w="13970">
            <a:solidFill>
              <a:srgbClr val="555555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301984" y="1362456"/>
            <a:ext cx="676656" cy="256032"/>
          </a:xfrm>
          <a:prstGeom prst="roundRect">
            <a:avLst>
              <a:gd name="adj" fmla="val 17857"/>
            </a:avLst>
          </a:prstGeom>
          <a:solidFill>
            <a:srgbClr val="EFEFEF"/>
          </a:solidFill>
          <a:ln w="8890">
            <a:solidFill>
              <a:srgbClr val="777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29416" y="1426464"/>
            <a:ext cx="6217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path</a:t>
            </a:r>
            <a:endParaRPr lang="en-US" sz="610" dirty="0"/>
          </a:p>
        </p:txBody>
      </p:sp>
      <p:sp>
        <p:nvSpPr>
          <p:cNvPr id="27" name="Text 25"/>
          <p:cNvSpPr/>
          <p:nvPr/>
        </p:nvSpPr>
        <p:spPr>
          <a:xfrm>
            <a:off x="11859768" y="1261872"/>
            <a:ext cx="12801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2249424" y="3639312"/>
            <a:ext cx="292608" cy="246888"/>
          </a:xfrm>
          <a:prstGeom prst="rightArrow">
            <a:avLst/>
          </a:prstGeom>
          <a:solidFill>
            <a:srgbClr val="3B3B3B"/>
          </a:solidFill>
          <a:ln w="12700">
            <a:solidFill>
              <a:srgbClr val="3B3B3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3639312"/>
            <a:ext cx="274320" cy="246888"/>
          </a:xfrm>
          <a:prstGeom prst="rightArrow">
            <a:avLst/>
          </a:prstGeom>
          <a:solidFill>
            <a:srgbClr val="3B3B3B"/>
          </a:solidFill>
          <a:ln w="12700">
            <a:solidFill>
              <a:srgbClr val="3B3B3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3639312"/>
            <a:ext cx="274320" cy="246888"/>
          </a:xfrm>
          <a:prstGeom prst="rightArrow">
            <a:avLst/>
          </a:prstGeom>
          <a:solidFill>
            <a:srgbClr val="3B3B3B"/>
          </a:solidFill>
          <a:ln w="12700">
            <a:solidFill>
              <a:srgbClr val="3B3B3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3639312"/>
            <a:ext cx="292608" cy="246888"/>
          </a:xfrm>
          <a:prstGeom prst="rightArrow">
            <a:avLst/>
          </a:prstGeom>
          <a:solidFill>
            <a:srgbClr val="3B3B3B"/>
          </a:solidFill>
          <a:ln w="12700">
            <a:solidFill>
              <a:srgbClr val="3B3B3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36224" y="3639312"/>
            <a:ext cx="246888" cy="246888"/>
          </a:xfrm>
          <a:prstGeom prst="rightArrow">
            <a:avLst/>
          </a:prstGeom>
          <a:solidFill>
            <a:srgbClr val="3B3B3B"/>
          </a:solidFill>
          <a:ln w="12700">
            <a:solidFill>
              <a:srgbClr val="3B3B3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084832"/>
            <a:ext cx="1810512" cy="585216"/>
          </a:xfrm>
          <a:prstGeom prst="roundRect">
            <a:avLst>
              <a:gd name="adj" fmla="val 8594"/>
            </a:avLst>
          </a:prstGeom>
          <a:solidFill>
            <a:srgbClr val="FFF0E8"/>
          </a:solidFill>
          <a:ln w="11430">
            <a:solidFill>
              <a:srgbClr val="D65A1B"/>
            </a:solidFill>
            <a:prstDash val="solid"/>
          </a:ln>
        </p:spPr>
      </p:sp>
      <p:pic>
        <p:nvPicPr>
          <p:cNvPr id="34" name="Image 0" descr="/mnt/data/semantic_icons_v11/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94560"/>
            <a:ext cx="384048" cy="3657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05840" y="2167128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1005840" y="242316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24712" y="242316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243584" y="242316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62456" y="242316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81328" y="2423160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00200" y="2423160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865376" y="2368296"/>
            <a:ext cx="18288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65760" y="2834640"/>
            <a:ext cx="1810512" cy="585216"/>
          </a:xfrm>
          <a:prstGeom prst="roundRect">
            <a:avLst>
              <a:gd name="adj" fmla="val 8594"/>
            </a:avLst>
          </a:prstGeom>
          <a:solidFill>
            <a:srgbClr val="FFF0E8"/>
          </a:solidFill>
          <a:ln w="11430">
            <a:solidFill>
              <a:srgbClr val="D65A1B"/>
            </a:solidFill>
            <a:prstDash val="solid"/>
          </a:ln>
        </p:spPr>
      </p:sp>
      <p:pic>
        <p:nvPicPr>
          <p:cNvPr id="44" name="Image 1" descr="/mnt/data/semantic_icons_v11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944368"/>
            <a:ext cx="384048" cy="36576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005840" y="2916936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B</a:t>
            </a:r>
            <a:endParaRPr lang="en-US" sz="930" dirty="0"/>
          </a:p>
        </p:txBody>
      </p:sp>
      <p:sp>
        <p:nvSpPr>
          <p:cNvPr id="46" name="Shape 42"/>
          <p:cNvSpPr/>
          <p:nvPr/>
        </p:nvSpPr>
        <p:spPr>
          <a:xfrm>
            <a:off x="1005840" y="3172968"/>
            <a:ext cx="82296" cy="82296"/>
          </a:xfrm>
          <a:prstGeom prst="rect">
            <a:avLst/>
          </a:prstGeom>
          <a:solidFill>
            <a:srgbClr val="F08A1A"/>
          </a:solidFill>
          <a:ln w="8890">
            <a:solidFill>
              <a:srgbClr val="F08A1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24712" y="3172968"/>
            <a:ext cx="82296" cy="82296"/>
          </a:xfrm>
          <a:prstGeom prst="rect">
            <a:avLst/>
          </a:prstGeom>
          <a:solidFill>
            <a:srgbClr val="F08A1A"/>
          </a:solidFill>
          <a:ln w="8890">
            <a:solidFill>
              <a:srgbClr val="F08A1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43584" y="3172968"/>
            <a:ext cx="82296" cy="82296"/>
          </a:xfrm>
          <a:prstGeom prst="rect">
            <a:avLst/>
          </a:prstGeom>
          <a:solidFill>
            <a:srgbClr val="F08A1A"/>
          </a:solidFill>
          <a:ln w="8890">
            <a:solidFill>
              <a:srgbClr val="F08A1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362456" y="3172968"/>
            <a:ext cx="82296" cy="82296"/>
          </a:xfrm>
          <a:prstGeom prst="rect">
            <a:avLst/>
          </a:prstGeom>
          <a:solidFill>
            <a:srgbClr val="F08A1A"/>
          </a:solidFill>
          <a:ln w="8890">
            <a:solidFill>
              <a:srgbClr val="F08A1A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481328" y="3172968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F08A1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600200" y="3172968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F08A1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865376" y="3118104"/>
            <a:ext cx="18288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65760" y="3584448"/>
            <a:ext cx="1810512" cy="585216"/>
          </a:xfrm>
          <a:prstGeom prst="roundRect">
            <a:avLst>
              <a:gd name="adj" fmla="val 8594"/>
            </a:avLst>
          </a:prstGeom>
          <a:solidFill>
            <a:srgbClr val="FFF0E8"/>
          </a:solidFill>
          <a:ln w="11430">
            <a:solidFill>
              <a:srgbClr val="D65A1B"/>
            </a:solidFill>
            <a:prstDash val="solid"/>
          </a:ln>
        </p:spPr>
      </p:sp>
      <p:pic>
        <p:nvPicPr>
          <p:cNvPr id="54" name="Image 2" descr="/mnt/data/semantic_icons_v11/wave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94176"/>
            <a:ext cx="384048" cy="36576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1005840" y="3666744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1005840" y="3922776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124712" y="3922776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243584" y="3922776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62456" y="3922776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481328" y="3922776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600200" y="3922776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1865376" y="3867912"/>
            <a:ext cx="18288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365760" y="4507992"/>
            <a:ext cx="1810512" cy="585216"/>
          </a:xfrm>
          <a:prstGeom prst="roundRect">
            <a:avLst>
              <a:gd name="adj" fmla="val 8594"/>
            </a:avLst>
          </a:prstGeom>
          <a:solidFill>
            <a:srgbClr val="FFF0E8"/>
          </a:solidFill>
          <a:ln w="11430">
            <a:solidFill>
              <a:srgbClr val="D65A1B"/>
            </a:solidFill>
            <a:prstDash val="solid"/>
          </a:ln>
        </p:spPr>
      </p:sp>
      <p:pic>
        <p:nvPicPr>
          <p:cNvPr id="64" name="Image 3" descr="/mnt/data/semantic_icons_v11/ther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617720"/>
            <a:ext cx="384048" cy="365760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1005840" y="4590288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N</a:t>
            </a:r>
            <a:endParaRPr lang="en-US" sz="930" dirty="0"/>
          </a:p>
        </p:txBody>
      </p:sp>
      <p:sp>
        <p:nvSpPr>
          <p:cNvPr id="66" name="Shape 60"/>
          <p:cNvSpPr/>
          <p:nvPr/>
        </p:nvSpPr>
        <p:spPr>
          <a:xfrm>
            <a:off x="1005840" y="484632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124712" y="484632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243584" y="4846320"/>
            <a:ext cx="82296" cy="82296"/>
          </a:xfrm>
          <a:prstGeom prst="rect">
            <a:avLst/>
          </a:prstGeom>
          <a:solidFill>
            <a:srgbClr val="D65A1B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62456" y="4846320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481328" y="4846320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600200" y="4846320"/>
            <a:ext cx="82296" cy="82296"/>
          </a:xfrm>
          <a:prstGeom prst="rect">
            <a:avLst/>
          </a:prstGeom>
          <a:solidFill>
            <a:srgbClr val="FFFFFF"/>
          </a:solidFill>
          <a:ln w="8890">
            <a:solidFill>
              <a:srgbClr val="D65A1B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1865376" y="4791456"/>
            <a:ext cx="18288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73" name="Text 67"/>
          <p:cNvSpPr/>
          <p:nvPr/>
        </p:nvSpPr>
        <p:spPr>
          <a:xfrm>
            <a:off x="1179576" y="4142232"/>
            <a:ext cx="1828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800" dirty="0"/>
          </a:p>
        </p:txBody>
      </p:sp>
      <p:sp>
        <p:nvSpPr>
          <p:cNvPr id="74" name="Shape 68"/>
          <p:cNvSpPr/>
          <p:nvPr/>
        </p:nvSpPr>
        <p:spPr>
          <a:xfrm>
            <a:off x="420624" y="5586984"/>
            <a:ext cx="1700784" cy="0"/>
          </a:xfrm>
          <a:prstGeom prst="line">
            <a:avLst/>
          </a:prstGeom>
          <a:solidFill>
            <a:srgbClr val="FFFFFF">
              <a:alpha val="0"/>
            </a:srgbClr>
          </a:solidFill>
          <a:ln w="11430">
            <a:solidFill>
              <a:srgbClr val="C89B83"/>
            </a:solidFill>
            <a:prstDash val="solid"/>
          </a:ln>
        </p:spPr>
      </p:sp>
      <p:pic>
        <p:nvPicPr>
          <p:cNvPr id="75" name="Image 4" descr="/mnt/data/semantic_icons_v11/coo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5760720"/>
            <a:ext cx="283464" cy="283464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768096" y="5801868"/>
            <a:ext cx="12344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subsets</a:t>
            </a:r>
            <a:endParaRPr lang="en-US" sz="870" dirty="0"/>
          </a:p>
        </p:txBody>
      </p:sp>
      <p:pic>
        <p:nvPicPr>
          <p:cNvPr id="77" name="Image 5" descr="/mnt/data/semantic_icons_v11/ba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6163056"/>
            <a:ext cx="283464" cy="283464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768096" y="6204204"/>
            <a:ext cx="12344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orders</a:t>
            </a:r>
            <a:endParaRPr lang="en-US" sz="870" dirty="0"/>
          </a:p>
        </p:txBody>
      </p:sp>
      <p:pic>
        <p:nvPicPr>
          <p:cNvPr id="79" name="Image 6" descr="/mnt/data/semantic_icons_v11/p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6565392"/>
            <a:ext cx="283464" cy="283464"/>
          </a:xfrm>
          <a:prstGeom prst="rect">
            <a:avLst/>
          </a:prstGeom>
        </p:spPr>
      </p:pic>
      <p:sp>
        <p:nvSpPr>
          <p:cNvPr id="80" name="Text 71"/>
          <p:cNvSpPr/>
          <p:nvPr/>
        </p:nvSpPr>
        <p:spPr>
          <a:xfrm>
            <a:off x="768096" y="6606540"/>
            <a:ext cx="12344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/ budgets</a:t>
            </a:r>
            <a:endParaRPr lang="en-US" sz="870" dirty="0"/>
          </a:p>
        </p:txBody>
      </p:sp>
      <p:sp>
        <p:nvSpPr>
          <p:cNvPr id="81" name="Shape 72"/>
          <p:cNvSpPr/>
          <p:nvPr/>
        </p:nvSpPr>
        <p:spPr>
          <a:xfrm>
            <a:off x="2688336" y="2075688"/>
            <a:ext cx="1719072" cy="3310128"/>
          </a:xfrm>
          <a:prstGeom prst="roundRect">
            <a:avLst>
              <a:gd name="adj" fmla="val 2926"/>
            </a:avLst>
          </a:prstGeom>
          <a:solidFill>
            <a:srgbClr val="FFFFFF"/>
          </a:solidFill>
          <a:ln w="12065">
            <a:solidFill>
              <a:srgbClr val="76B5E3"/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2889504" y="2240280"/>
            <a:ext cx="1316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schema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(dictionary)</a:t>
            </a:r>
            <a:endParaRPr lang="en-US" sz="920" dirty="0"/>
          </a:p>
        </p:txBody>
      </p:sp>
      <p:sp>
        <p:nvSpPr>
          <p:cNvPr id="83" name="Text 74"/>
          <p:cNvSpPr/>
          <p:nvPr/>
        </p:nvSpPr>
        <p:spPr>
          <a:xfrm>
            <a:off x="2871216" y="2715768"/>
            <a:ext cx="4023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coord.</a:t>
            </a:r>
            <a:endParaRPr lang="en-US" sz="760" dirty="0"/>
          </a:p>
        </p:txBody>
      </p:sp>
      <p:sp>
        <p:nvSpPr>
          <p:cNvPr id="84" name="Text 75"/>
          <p:cNvSpPr/>
          <p:nvPr/>
        </p:nvSpPr>
        <p:spPr>
          <a:xfrm>
            <a:off x="3419856" y="2697480"/>
            <a:ext cx="87782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47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semantic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147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10" dirty="0"/>
          </a:p>
        </p:txBody>
      </p:sp>
      <p:sp>
        <p:nvSpPr>
          <p:cNvPr id="85" name="Text 76"/>
          <p:cNvSpPr/>
          <p:nvPr/>
        </p:nvSpPr>
        <p:spPr>
          <a:xfrm>
            <a:off x="2862072" y="3054096"/>
            <a:ext cx="4297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A_17</a:t>
            </a:r>
            <a:endParaRPr lang="en-US" sz="880" dirty="0"/>
          </a:p>
        </p:txBody>
      </p:sp>
      <p:sp>
        <p:nvSpPr>
          <p:cNvPr id="86" name="Shape 77"/>
          <p:cNvSpPr/>
          <p:nvPr/>
        </p:nvSpPr>
        <p:spPr>
          <a:xfrm>
            <a:off x="3419856" y="3017520"/>
            <a:ext cx="868680" cy="265176"/>
          </a:xfrm>
          <a:prstGeom prst="roundRect">
            <a:avLst>
              <a:gd name="adj" fmla="val 12069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87" name="Text 78"/>
          <p:cNvSpPr/>
          <p:nvPr/>
        </p:nvSpPr>
        <p:spPr>
          <a:xfrm>
            <a:off x="3447288" y="3044952"/>
            <a:ext cx="813816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850" dirty="0"/>
          </a:p>
        </p:txBody>
      </p:sp>
      <p:sp>
        <p:nvSpPr>
          <p:cNvPr id="88" name="Text 79"/>
          <p:cNvSpPr/>
          <p:nvPr/>
        </p:nvSpPr>
        <p:spPr>
          <a:xfrm>
            <a:off x="2862072" y="3419856"/>
            <a:ext cx="4297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A_42</a:t>
            </a:r>
            <a:endParaRPr lang="en-US" sz="880" dirty="0"/>
          </a:p>
        </p:txBody>
      </p:sp>
      <p:sp>
        <p:nvSpPr>
          <p:cNvPr id="89" name="Shape 80"/>
          <p:cNvSpPr/>
          <p:nvPr/>
        </p:nvSpPr>
        <p:spPr>
          <a:xfrm>
            <a:off x="3419856" y="3383280"/>
            <a:ext cx="868680" cy="265176"/>
          </a:xfrm>
          <a:prstGeom prst="roundRect">
            <a:avLst>
              <a:gd name="adj" fmla="val 12069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90" name="Text 81"/>
          <p:cNvSpPr/>
          <p:nvPr/>
        </p:nvSpPr>
        <p:spPr>
          <a:xfrm>
            <a:off x="3447288" y="3410712"/>
            <a:ext cx="813816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</a:t>
            </a:r>
            <a:endParaRPr lang="en-US" sz="850" dirty="0"/>
          </a:p>
        </p:txBody>
      </p:sp>
      <p:sp>
        <p:nvSpPr>
          <p:cNvPr id="91" name="Text 82"/>
          <p:cNvSpPr/>
          <p:nvPr/>
        </p:nvSpPr>
        <p:spPr>
          <a:xfrm>
            <a:off x="2862072" y="3785616"/>
            <a:ext cx="4297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B_03</a:t>
            </a:r>
            <a:endParaRPr lang="en-US" sz="880" dirty="0"/>
          </a:p>
        </p:txBody>
      </p:sp>
      <p:sp>
        <p:nvSpPr>
          <p:cNvPr id="92" name="Shape 83"/>
          <p:cNvSpPr/>
          <p:nvPr/>
        </p:nvSpPr>
        <p:spPr>
          <a:xfrm>
            <a:off x="3419856" y="3749040"/>
            <a:ext cx="868680" cy="265176"/>
          </a:xfrm>
          <a:prstGeom prst="roundRect">
            <a:avLst>
              <a:gd name="adj" fmla="val 12069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93" name="Text 84"/>
          <p:cNvSpPr/>
          <p:nvPr/>
        </p:nvSpPr>
        <p:spPr>
          <a:xfrm>
            <a:off x="3447288" y="3776472"/>
            <a:ext cx="813816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850" dirty="0"/>
          </a:p>
        </p:txBody>
      </p:sp>
      <p:sp>
        <p:nvSpPr>
          <p:cNvPr id="94" name="Text 85"/>
          <p:cNvSpPr/>
          <p:nvPr/>
        </p:nvSpPr>
        <p:spPr>
          <a:xfrm>
            <a:off x="2862072" y="4151376"/>
            <a:ext cx="4297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C_11</a:t>
            </a:r>
            <a:endParaRPr lang="en-US" sz="880" dirty="0"/>
          </a:p>
        </p:txBody>
      </p:sp>
      <p:sp>
        <p:nvSpPr>
          <p:cNvPr id="95" name="Shape 86"/>
          <p:cNvSpPr/>
          <p:nvPr/>
        </p:nvSpPr>
        <p:spPr>
          <a:xfrm>
            <a:off x="3419856" y="4114800"/>
            <a:ext cx="868680" cy="265176"/>
          </a:xfrm>
          <a:prstGeom prst="roundRect">
            <a:avLst>
              <a:gd name="adj" fmla="val 12069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96" name="Text 87"/>
          <p:cNvSpPr/>
          <p:nvPr/>
        </p:nvSpPr>
        <p:spPr>
          <a:xfrm>
            <a:off x="3447288" y="4142232"/>
            <a:ext cx="813816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accel_y</a:t>
            </a:r>
            <a:endParaRPr lang="en-US" sz="850" dirty="0"/>
          </a:p>
        </p:txBody>
      </p:sp>
      <p:sp>
        <p:nvSpPr>
          <p:cNvPr id="97" name="Text 88"/>
          <p:cNvSpPr/>
          <p:nvPr/>
        </p:nvSpPr>
        <p:spPr>
          <a:xfrm>
            <a:off x="2862072" y="4517136"/>
            <a:ext cx="4297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880" dirty="0"/>
          </a:p>
        </p:txBody>
      </p:sp>
      <p:sp>
        <p:nvSpPr>
          <p:cNvPr id="98" name="Text 89"/>
          <p:cNvSpPr/>
          <p:nvPr/>
        </p:nvSpPr>
        <p:spPr>
          <a:xfrm>
            <a:off x="3758184" y="4489704"/>
            <a:ext cx="182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400" dirty="0"/>
          </a:p>
        </p:txBody>
      </p:sp>
      <p:sp>
        <p:nvSpPr>
          <p:cNvPr id="99" name="Text 90"/>
          <p:cNvSpPr/>
          <p:nvPr/>
        </p:nvSpPr>
        <p:spPr>
          <a:xfrm>
            <a:off x="2862072" y="4882896"/>
            <a:ext cx="4297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N_08</a:t>
            </a:r>
            <a:endParaRPr lang="en-US" sz="880" dirty="0"/>
          </a:p>
        </p:txBody>
      </p:sp>
      <p:sp>
        <p:nvSpPr>
          <p:cNvPr id="100" name="Shape 91"/>
          <p:cNvSpPr/>
          <p:nvPr/>
        </p:nvSpPr>
        <p:spPr>
          <a:xfrm>
            <a:off x="3419856" y="4846320"/>
            <a:ext cx="868680" cy="265176"/>
          </a:xfrm>
          <a:prstGeom prst="roundRect">
            <a:avLst>
              <a:gd name="adj" fmla="val 12069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01" name="Text 92"/>
          <p:cNvSpPr/>
          <p:nvPr/>
        </p:nvSpPr>
        <p:spPr>
          <a:xfrm>
            <a:off x="3447288" y="4873752"/>
            <a:ext cx="813816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heart_rate</a:t>
            </a:r>
            <a:endParaRPr lang="en-US" sz="850" dirty="0"/>
          </a:p>
        </p:txBody>
      </p:sp>
      <p:sp>
        <p:nvSpPr>
          <p:cNvPr id="102" name="Shape 93"/>
          <p:cNvSpPr/>
          <p:nvPr/>
        </p:nvSpPr>
        <p:spPr>
          <a:xfrm>
            <a:off x="2706624" y="5650992"/>
            <a:ext cx="1682496" cy="0"/>
          </a:xfrm>
          <a:prstGeom prst="line">
            <a:avLst/>
          </a:prstGeom>
          <a:solidFill>
            <a:srgbClr val="FFFFFF">
              <a:alpha val="0"/>
            </a:srgbClr>
          </a:solidFill>
          <a:ln w="11430">
            <a:solidFill>
              <a:srgbClr val="A9CFEA"/>
            </a:solidFill>
            <a:prstDash val="solid"/>
          </a:ln>
        </p:spPr>
      </p:sp>
      <p:pic>
        <p:nvPicPr>
          <p:cNvPr id="103" name="Image 7" descr="/mnt/data/semantic_icons_v11/us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5768" y="5879592"/>
            <a:ext cx="310896" cy="310896"/>
          </a:xfrm>
          <a:prstGeom prst="rect">
            <a:avLst/>
          </a:prstGeom>
        </p:spPr>
      </p:pic>
      <p:sp>
        <p:nvSpPr>
          <p:cNvPr id="104" name="Text 94"/>
          <p:cNvSpPr/>
          <p:nvPr/>
        </p:nvSpPr>
        <p:spPr>
          <a:xfrm>
            <a:off x="3108960" y="5943600"/>
            <a:ext cx="10241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identity</a:t>
            </a:r>
            <a:endParaRPr lang="en-US" sz="880" dirty="0"/>
          </a:p>
        </p:txBody>
      </p:sp>
      <p:pic>
        <p:nvPicPr>
          <p:cNvPr id="105" name="Image 8" descr="/mnt/data/semantic_icons_v11/ancho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5768" y="6336792"/>
            <a:ext cx="310896" cy="310896"/>
          </a:xfrm>
          <a:prstGeom prst="rect">
            <a:avLst/>
          </a:prstGeom>
        </p:spPr>
      </p:pic>
      <p:sp>
        <p:nvSpPr>
          <p:cNvPr id="106" name="Text 95"/>
          <p:cNvSpPr/>
          <p:nvPr/>
        </p:nvSpPr>
        <p:spPr>
          <a:xfrm>
            <a:off x="3108960" y="6391656"/>
            <a:ext cx="106070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+ anchors</a:t>
            </a:r>
            <a:endParaRPr lang="en-US" sz="880" dirty="0"/>
          </a:p>
        </p:txBody>
      </p:sp>
      <p:sp>
        <p:nvSpPr>
          <p:cNvPr id="107" name="Text 96"/>
          <p:cNvSpPr/>
          <p:nvPr/>
        </p:nvSpPr>
        <p:spPr>
          <a:xfrm>
            <a:off x="4992624" y="2340864"/>
            <a:ext cx="140817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 |  mask  |  count</a:t>
            </a:r>
            <a:endParaRPr lang="en-US" sz="980" dirty="0"/>
          </a:p>
        </p:txBody>
      </p:sp>
      <p:sp>
        <p:nvSpPr>
          <p:cNvPr id="108" name="Text 97"/>
          <p:cNvSpPr/>
          <p:nvPr/>
        </p:nvSpPr>
        <p:spPr>
          <a:xfrm>
            <a:off x="5020056" y="2807208"/>
            <a:ext cx="3657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780" dirty="0"/>
          </a:p>
        </p:txBody>
      </p:sp>
      <p:sp>
        <p:nvSpPr>
          <p:cNvPr id="109" name="Text 98"/>
          <p:cNvSpPr/>
          <p:nvPr/>
        </p:nvSpPr>
        <p:spPr>
          <a:xfrm>
            <a:off x="5541264" y="2807208"/>
            <a:ext cx="34747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780" dirty="0"/>
          </a:p>
        </p:txBody>
      </p:sp>
      <p:sp>
        <p:nvSpPr>
          <p:cNvPr id="110" name="Text 99"/>
          <p:cNvSpPr/>
          <p:nvPr/>
        </p:nvSpPr>
        <p:spPr>
          <a:xfrm>
            <a:off x="6044184" y="2807208"/>
            <a:ext cx="3657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780" dirty="0"/>
          </a:p>
        </p:txBody>
      </p:sp>
      <p:sp>
        <p:nvSpPr>
          <p:cNvPr id="111" name="Shape 100"/>
          <p:cNvSpPr/>
          <p:nvPr/>
        </p:nvSpPr>
        <p:spPr>
          <a:xfrm>
            <a:off x="4956048" y="3063240"/>
            <a:ext cx="493776" cy="310896"/>
          </a:xfrm>
          <a:prstGeom prst="roundRect">
            <a:avLst>
              <a:gd name="adj" fmla="val 10294"/>
            </a:avLst>
          </a:prstGeom>
          <a:solidFill>
            <a:srgbClr val="DFF5F8"/>
          </a:solidFill>
          <a:ln w="9525">
            <a:solidFill>
              <a:srgbClr val="5BB6BF"/>
            </a:solidFill>
            <a:prstDash val="solid"/>
          </a:ln>
        </p:spPr>
      </p:sp>
      <p:sp>
        <p:nvSpPr>
          <p:cNvPr id="112" name="Shape 101"/>
          <p:cNvSpPr/>
          <p:nvPr/>
        </p:nvSpPr>
        <p:spPr>
          <a:xfrm>
            <a:off x="5550408" y="30632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EAF7E9"/>
          </a:solidFill>
          <a:ln w="9525">
            <a:solidFill>
              <a:srgbClr val="80C684"/>
            </a:solidFill>
            <a:prstDash val="solid"/>
          </a:ln>
        </p:spPr>
      </p:sp>
      <p:sp>
        <p:nvSpPr>
          <p:cNvPr id="113" name="Shape 102"/>
          <p:cNvSpPr/>
          <p:nvPr/>
        </p:nvSpPr>
        <p:spPr>
          <a:xfrm>
            <a:off x="6062472" y="30632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4" name="Text 103"/>
          <p:cNvSpPr/>
          <p:nvPr/>
        </p:nvSpPr>
        <p:spPr>
          <a:xfrm>
            <a:off x="4983480" y="3118104"/>
            <a:ext cx="438912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</a:t>
            </a:r>
            <a:endParaRPr lang="en-US" sz="880" dirty="0"/>
          </a:p>
        </p:txBody>
      </p:sp>
      <p:sp>
        <p:nvSpPr>
          <p:cNvPr id="115" name="Text 104"/>
          <p:cNvSpPr/>
          <p:nvPr/>
        </p:nvSpPr>
        <p:spPr>
          <a:xfrm>
            <a:off x="5568696" y="3118104"/>
            <a:ext cx="338328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57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116" name="Text 105"/>
          <p:cNvSpPr/>
          <p:nvPr/>
        </p:nvSpPr>
        <p:spPr>
          <a:xfrm>
            <a:off x="6089904" y="3118104"/>
            <a:ext cx="32918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80" dirty="0"/>
          </a:p>
        </p:txBody>
      </p:sp>
      <p:sp>
        <p:nvSpPr>
          <p:cNvPr id="117" name="Shape 106"/>
          <p:cNvSpPr/>
          <p:nvPr/>
        </p:nvSpPr>
        <p:spPr>
          <a:xfrm>
            <a:off x="4956048" y="3520440"/>
            <a:ext cx="493776" cy="310896"/>
          </a:xfrm>
          <a:prstGeom prst="roundRect">
            <a:avLst>
              <a:gd name="adj" fmla="val 10294"/>
            </a:avLst>
          </a:prstGeom>
          <a:solidFill>
            <a:srgbClr val="F2F2F2"/>
          </a:solidFill>
          <a:ln w="9525">
            <a:solidFill>
              <a:srgbClr val="5BB6BF"/>
            </a:solidFill>
            <a:prstDash val="solid"/>
          </a:ln>
        </p:spPr>
      </p:sp>
      <p:sp>
        <p:nvSpPr>
          <p:cNvPr id="118" name="Shape 107"/>
          <p:cNvSpPr/>
          <p:nvPr/>
        </p:nvSpPr>
        <p:spPr>
          <a:xfrm>
            <a:off x="5550408" y="35204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DEBE8"/>
          </a:solidFill>
          <a:ln w="9525">
            <a:solidFill>
              <a:srgbClr val="EDB6A8"/>
            </a:solidFill>
            <a:prstDash val="solid"/>
          </a:ln>
        </p:spPr>
      </p:sp>
      <p:sp>
        <p:nvSpPr>
          <p:cNvPr id="119" name="Shape 108"/>
          <p:cNvSpPr/>
          <p:nvPr/>
        </p:nvSpPr>
        <p:spPr>
          <a:xfrm>
            <a:off x="6062472" y="35204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20" name="Text 109"/>
          <p:cNvSpPr/>
          <p:nvPr/>
        </p:nvSpPr>
        <p:spPr>
          <a:xfrm>
            <a:off x="4983480" y="3575304"/>
            <a:ext cx="438912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80" dirty="0"/>
          </a:p>
        </p:txBody>
      </p:sp>
      <p:sp>
        <p:nvSpPr>
          <p:cNvPr id="121" name="Text 110"/>
          <p:cNvSpPr/>
          <p:nvPr/>
        </p:nvSpPr>
        <p:spPr>
          <a:xfrm>
            <a:off x="5568696" y="3575304"/>
            <a:ext cx="338328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5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122" name="Text 111"/>
          <p:cNvSpPr/>
          <p:nvPr/>
        </p:nvSpPr>
        <p:spPr>
          <a:xfrm>
            <a:off x="6089904" y="3575304"/>
            <a:ext cx="32918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123" name="Shape 112"/>
          <p:cNvSpPr/>
          <p:nvPr/>
        </p:nvSpPr>
        <p:spPr>
          <a:xfrm>
            <a:off x="4956048" y="3977640"/>
            <a:ext cx="493776" cy="310896"/>
          </a:xfrm>
          <a:prstGeom prst="roundRect">
            <a:avLst>
              <a:gd name="adj" fmla="val 10294"/>
            </a:avLst>
          </a:prstGeom>
          <a:solidFill>
            <a:srgbClr val="DFF5F8"/>
          </a:solidFill>
          <a:ln w="9525">
            <a:solidFill>
              <a:srgbClr val="5BB6BF"/>
            </a:solidFill>
            <a:prstDash val="solid"/>
          </a:ln>
        </p:spPr>
      </p:sp>
      <p:sp>
        <p:nvSpPr>
          <p:cNvPr id="124" name="Shape 113"/>
          <p:cNvSpPr/>
          <p:nvPr/>
        </p:nvSpPr>
        <p:spPr>
          <a:xfrm>
            <a:off x="5550408" y="39776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EAF7E9"/>
          </a:solidFill>
          <a:ln w="9525">
            <a:solidFill>
              <a:srgbClr val="80C684"/>
            </a:solidFill>
            <a:prstDash val="solid"/>
          </a:ln>
        </p:spPr>
      </p:sp>
      <p:sp>
        <p:nvSpPr>
          <p:cNvPr id="125" name="Shape 114"/>
          <p:cNvSpPr/>
          <p:nvPr/>
        </p:nvSpPr>
        <p:spPr>
          <a:xfrm>
            <a:off x="6062472" y="39776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26" name="Text 115"/>
          <p:cNvSpPr/>
          <p:nvPr/>
        </p:nvSpPr>
        <p:spPr>
          <a:xfrm>
            <a:off x="4983480" y="4032504"/>
            <a:ext cx="438912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</a:t>
            </a:r>
            <a:endParaRPr lang="en-US" sz="880" dirty="0"/>
          </a:p>
        </p:txBody>
      </p:sp>
      <p:sp>
        <p:nvSpPr>
          <p:cNvPr id="127" name="Text 116"/>
          <p:cNvSpPr/>
          <p:nvPr/>
        </p:nvSpPr>
        <p:spPr>
          <a:xfrm>
            <a:off x="5568696" y="4032504"/>
            <a:ext cx="338328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57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128" name="Text 117"/>
          <p:cNvSpPr/>
          <p:nvPr/>
        </p:nvSpPr>
        <p:spPr>
          <a:xfrm>
            <a:off x="6089904" y="4032504"/>
            <a:ext cx="32918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" dirty="0"/>
          </a:p>
        </p:txBody>
      </p:sp>
      <p:sp>
        <p:nvSpPr>
          <p:cNvPr id="129" name="Shape 118"/>
          <p:cNvSpPr/>
          <p:nvPr/>
        </p:nvSpPr>
        <p:spPr>
          <a:xfrm>
            <a:off x="4956048" y="4434840"/>
            <a:ext cx="493776" cy="310896"/>
          </a:xfrm>
          <a:prstGeom prst="roundRect">
            <a:avLst>
              <a:gd name="adj" fmla="val 10294"/>
            </a:avLst>
          </a:prstGeom>
          <a:solidFill>
            <a:srgbClr val="F2F2F2"/>
          </a:solidFill>
          <a:ln w="9525">
            <a:solidFill>
              <a:srgbClr val="5BB6BF"/>
            </a:solidFill>
            <a:prstDash val="solid"/>
          </a:ln>
        </p:spPr>
      </p:sp>
      <p:sp>
        <p:nvSpPr>
          <p:cNvPr id="130" name="Shape 119"/>
          <p:cNvSpPr/>
          <p:nvPr/>
        </p:nvSpPr>
        <p:spPr>
          <a:xfrm>
            <a:off x="5550408" y="44348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DEBE8"/>
          </a:solidFill>
          <a:ln w="9525">
            <a:solidFill>
              <a:srgbClr val="EDB6A8"/>
            </a:solidFill>
            <a:prstDash val="solid"/>
          </a:ln>
        </p:spPr>
      </p:sp>
      <p:sp>
        <p:nvSpPr>
          <p:cNvPr id="131" name="Shape 120"/>
          <p:cNvSpPr/>
          <p:nvPr/>
        </p:nvSpPr>
        <p:spPr>
          <a:xfrm>
            <a:off x="6062472" y="44348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32" name="Text 121"/>
          <p:cNvSpPr/>
          <p:nvPr/>
        </p:nvSpPr>
        <p:spPr>
          <a:xfrm>
            <a:off x="4983480" y="4489704"/>
            <a:ext cx="438912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80" dirty="0"/>
          </a:p>
        </p:txBody>
      </p:sp>
      <p:sp>
        <p:nvSpPr>
          <p:cNvPr id="133" name="Text 122"/>
          <p:cNvSpPr/>
          <p:nvPr/>
        </p:nvSpPr>
        <p:spPr>
          <a:xfrm>
            <a:off x="5568696" y="4489704"/>
            <a:ext cx="338328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25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134" name="Text 123"/>
          <p:cNvSpPr/>
          <p:nvPr/>
        </p:nvSpPr>
        <p:spPr>
          <a:xfrm>
            <a:off x="6089904" y="4489704"/>
            <a:ext cx="32918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135" name="Shape 124"/>
          <p:cNvSpPr/>
          <p:nvPr/>
        </p:nvSpPr>
        <p:spPr>
          <a:xfrm>
            <a:off x="4956048" y="4892040"/>
            <a:ext cx="493776" cy="310896"/>
          </a:xfrm>
          <a:prstGeom prst="roundRect">
            <a:avLst>
              <a:gd name="adj" fmla="val 10294"/>
            </a:avLst>
          </a:prstGeom>
          <a:solidFill>
            <a:srgbClr val="DFF5F8"/>
          </a:solidFill>
          <a:ln w="9525">
            <a:solidFill>
              <a:srgbClr val="5BB6BF"/>
            </a:solidFill>
            <a:prstDash val="solid"/>
          </a:ln>
        </p:spPr>
      </p:sp>
      <p:sp>
        <p:nvSpPr>
          <p:cNvPr id="136" name="Shape 125"/>
          <p:cNvSpPr/>
          <p:nvPr/>
        </p:nvSpPr>
        <p:spPr>
          <a:xfrm>
            <a:off x="5550408" y="48920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EAF7E9"/>
          </a:solidFill>
          <a:ln w="9525">
            <a:solidFill>
              <a:srgbClr val="80C684"/>
            </a:solidFill>
            <a:prstDash val="solid"/>
          </a:ln>
        </p:spPr>
      </p:sp>
      <p:sp>
        <p:nvSpPr>
          <p:cNvPr id="137" name="Shape 126"/>
          <p:cNvSpPr/>
          <p:nvPr/>
        </p:nvSpPr>
        <p:spPr>
          <a:xfrm>
            <a:off x="6062472" y="4892040"/>
            <a:ext cx="384048" cy="310896"/>
          </a:xfrm>
          <a:prstGeom prst="roundRect">
            <a:avLst>
              <a:gd name="adj" fmla="val 10294"/>
            </a:avLst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38" name="Text 127"/>
          <p:cNvSpPr/>
          <p:nvPr/>
        </p:nvSpPr>
        <p:spPr>
          <a:xfrm>
            <a:off x="4983480" y="4946904"/>
            <a:ext cx="438912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880" dirty="0"/>
          </a:p>
        </p:txBody>
      </p:sp>
      <p:sp>
        <p:nvSpPr>
          <p:cNvPr id="139" name="Text 128"/>
          <p:cNvSpPr/>
          <p:nvPr/>
        </p:nvSpPr>
        <p:spPr>
          <a:xfrm>
            <a:off x="5568696" y="4946904"/>
            <a:ext cx="338328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57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140" name="Text 129"/>
          <p:cNvSpPr/>
          <p:nvPr/>
        </p:nvSpPr>
        <p:spPr>
          <a:xfrm>
            <a:off x="6089904" y="4946904"/>
            <a:ext cx="32918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80" dirty="0"/>
          </a:p>
        </p:txBody>
      </p:sp>
      <p:sp>
        <p:nvSpPr>
          <p:cNvPr id="141" name="Text 130"/>
          <p:cNvSpPr/>
          <p:nvPr/>
        </p:nvSpPr>
        <p:spPr>
          <a:xfrm>
            <a:off x="5650992" y="5376672"/>
            <a:ext cx="182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800" dirty="0"/>
          </a:p>
        </p:txBody>
      </p:sp>
      <p:sp>
        <p:nvSpPr>
          <p:cNvPr id="142" name="Shape 131"/>
          <p:cNvSpPr/>
          <p:nvPr/>
        </p:nvSpPr>
        <p:spPr>
          <a:xfrm>
            <a:off x="5102352" y="5879592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F7FFFF"/>
          </a:solidFill>
          <a:ln w="12700">
            <a:solidFill>
              <a:srgbClr val="0B8792"/>
            </a:solidFill>
            <a:prstDash val="solid"/>
          </a:ln>
        </p:spPr>
      </p:sp>
      <p:sp>
        <p:nvSpPr>
          <p:cNvPr id="143" name="Text 132"/>
          <p:cNvSpPr/>
          <p:nvPr/>
        </p:nvSpPr>
        <p:spPr>
          <a:xfrm>
            <a:off x="5175504" y="6016752"/>
            <a:ext cx="1042416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≠ zero</a:t>
            </a:r>
            <a:endParaRPr lang="en-US" sz="940" dirty="0"/>
          </a:p>
        </p:txBody>
      </p:sp>
      <p:sp>
        <p:nvSpPr>
          <p:cNvPr id="144" name="Text 133"/>
          <p:cNvSpPr/>
          <p:nvPr/>
        </p:nvSpPr>
        <p:spPr>
          <a:xfrm>
            <a:off x="7095744" y="2267712"/>
            <a:ext cx="10515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(always)</a:t>
            </a:r>
            <a:endParaRPr lang="en-US" sz="850" dirty="0"/>
          </a:p>
        </p:txBody>
      </p:sp>
      <p:sp>
        <p:nvSpPr>
          <p:cNvPr id="145" name="Shape 134"/>
          <p:cNvSpPr/>
          <p:nvPr/>
        </p:nvSpPr>
        <p:spPr>
          <a:xfrm>
            <a:off x="7150608" y="2514600"/>
            <a:ext cx="603504" cy="0"/>
          </a:xfrm>
          <a:prstGeom prst="line">
            <a:avLst/>
          </a:prstGeom>
          <a:solidFill>
            <a:srgbClr val="FFFFFF">
              <a:alpha val="0"/>
            </a:srgbClr>
          </a:solidFill>
          <a:ln w="13462">
            <a:solidFill>
              <a:srgbClr val="2F7D32"/>
            </a:solidFill>
            <a:prstDash val="solid"/>
          </a:ln>
        </p:spPr>
      </p:sp>
      <p:sp>
        <p:nvSpPr>
          <p:cNvPr id="146" name="Shape 135"/>
          <p:cNvSpPr/>
          <p:nvPr/>
        </p:nvSpPr>
        <p:spPr>
          <a:xfrm>
            <a:off x="7754112" y="2514600"/>
            <a:ext cx="0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3462">
            <a:solidFill>
              <a:srgbClr val="2F7D32"/>
            </a:solidFill>
            <a:prstDash val="solid"/>
          </a:ln>
        </p:spPr>
      </p:sp>
      <p:sp>
        <p:nvSpPr>
          <p:cNvPr id="147" name="Shape 136"/>
          <p:cNvSpPr/>
          <p:nvPr/>
        </p:nvSpPr>
        <p:spPr>
          <a:xfrm rot="10800000">
            <a:off x="7699248" y="2788920"/>
            <a:ext cx="109728" cy="109728"/>
          </a:xfrm>
          <a:prstGeom prst="triangle">
            <a:avLst/>
          </a:prstGeom>
          <a:solidFill>
            <a:srgbClr val="2F7D32"/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</p:sp>
      <p:sp>
        <p:nvSpPr>
          <p:cNvPr id="148" name="Shape 137"/>
          <p:cNvSpPr/>
          <p:nvPr/>
        </p:nvSpPr>
        <p:spPr>
          <a:xfrm>
            <a:off x="7251192" y="2907792"/>
            <a:ext cx="1216152" cy="1133856"/>
          </a:xfrm>
          <a:prstGeom prst="roundRect">
            <a:avLst>
              <a:gd name="adj" fmla="val 5645"/>
            </a:avLst>
          </a:prstGeom>
          <a:solidFill>
            <a:srgbClr val="F1FFF0"/>
          </a:solidFill>
          <a:ln w="12700">
            <a:solidFill>
              <a:srgbClr val="2F7D32"/>
            </a:solidFill>
            <a:prstDash val="solid"/>
          </a:ln>
        </p:spPr>
      </p:sp>
      <p:sp>
        <p:nvSpPr>
          <p:cNvPr id="149" name="Text 138"/>
          <p:cNvSpPr/>
          <p:nvPr/>
        </p:nvSpPr>
        <p:spPr>
          <a:xfrm>
            <a:off x="7443216" y="3118104"/>
            <a:ext cx="832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CProto / KME</a:t>
            </a:r>
            <a:endParaRPr lang="en-US" sz="1200" dirty="0"/>
          </a:p>
        </p:txBody>
      </p:sp>
      <p:sp>
        <p:nvSpPr>
          <p:cNvPr id="150" name="Text 139"/>
          <p:cNvSpPr/>
          <p:nvPr/>
        </p:nvSpPr>
        <p:spPr>
          <a:xfrm>
            <a:off x="7424928" y="3483864"/>
            <a:ext cx="868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coverage-aware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low-order fusion</a:t>
            </a:r>
            <a:endParaRPr lang="en-US" sz="980" dirty="0"/>
          </a:p>
        </p:txBody>
      </p:sp>
      <p:sp>
        <p:nvSpPr>
          <p:cNvPr id="151" name="Shape 140"/>
          <p:cNvSpPr/>
          <p:nvPr/>
        </p:nvSpPr>
        <p:spPr>
          <a:xfrm>
            <a:off x="7150608" y="2514600"/>
            <a:ext cx="0" cy="2130552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2F7D32"/>
            </a:solidFill>
            <a:prstDash val="solid"/>
          </a:ln>
        </p:spPr>
      </p:sp>
      <p:sp>
        <p:nvSpPr>
          <p:cNvPr id="152" name="Shape 141"/>
          <p:cNvSpPr/>
          <p:nvPr/>
        </p:nvSpPr>
        <p:spPr>
          <a:xfrm>
            <a:off x="7150608" y="4645152"/>
            <a:ext cx="0" cy="59436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53" name="Shape 142"/>
          <p:cNvSpPr/>
          <p:nvPr/>
        </p:nvSpPr>
        <p:spPr>
          <a:xfrm>
            <a:off x="7150608" y="4754880"/>
            <a:ext cx="0" cy="59436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54" name="Text 143"/>
          <p:cNvSpPr/>
          <p:nvPr/>
        </p:nvSpPr>
        <p:spPr>
          <a:xfrm>
            <a:off x="7397496" y="4517136"/>
            <a:ext cx="12435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E46E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(when helpful)</a:t>
            </a:r>
            <a:endParaRPr lang="en-US" sz="830" dirty="0"/>
          </a:p>
        </p:txBody>
      </p:sp>
      <p:sp>
        <p:nvSpPr>
          <p:cNvPr id="155" name="Shape 144"/>
          <p:cNvSpPr/>
          <p:nvPr/>
        </p:nvSpPr>
        <p:spPr>
          <a:xfrm>
            <a:off x="7150608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56" name="Shape 145"/>
          <p:cNvSpPr/>
          <p:nvPr/>
        </p:nvSpPr>
        <p:spPr>
          <a:xfrm>
            <a:off x="7260336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57" name="Shape 146"/>
          <p:cNvSpPr/>
          <p:nvPr/>
        </p:nvSpPr>
        <p:spPr>
          <a:xfrm>
            <a:off x="7370064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58" name="Shape 147"/>
          <p:cNvSpPr/>
          <p:nvPr/>
        </p:nvSpPr>
        <p:spPr>
          <a:xfrm>
            <a:off x="7479792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59" name="Shape 148"/>
          <p:cNvSpPr/>
          <p:nvPr/>
        </p:nvSpPr>
        <p:spPr>
          <a:xfrm>
            <a:off x="7589520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0" name="Shape 149"/>
          <p:cNvSpPr/>
          <p:nvPr/>
        </p:nvSpPr>
        <p:spPr>
          <a:xfrm>
            <a:off x="7699248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1" name="Shape 150"/>
          <p:cNvSpPr/>
          <p:nvPr/>
        </p:nvSpPr>
        <p:spPr>
          <a:xfrm>
            <a:off x="7808976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2" name="Shape 151"/>
          <p:cNvSpPr/>
          <p:nvPr/>
        </p:nvSpPr>
        <p:spPr>
          <a:xfrm>
            <a:off x="7918704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3" name="Shape 152"/>
          <p:cNvSpPr/>
          <p:nvPr/>
        </p:nvSpPr>
        <p:spPr>
          <a:xfrm>
            <a:off x="8028432" y="4855464"/>
            <a:ext cx="59436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4" name="Shape 153"/>
          <p:cNvSpPr/>
          <p:nvPr/>
        </p:nvSpPr>
        <p:spPr>
          <a:xfrm>
            <a:off x="8138160" y="4855464"/>
            <a:ext cx="27432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5" name="Shape 154"/>
          <p:cNvSpPr/>
          <p:nvPr/>
        </p:nvSpPr>
        <p:spPr>
          <a:xfrm>
            <a:off x="8165592" y="4855464"/>
            <a:ext cx="0" cy="59436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6" name="Shape 155"/>
          <p:cNvSpPr/>
          <p:nvPr/>
        </p:nvSpPr>
        <p:spPr>
          <a:xfrm>
            <a:off x="8165592" y="4965192"/>
            <a:ext cx="0" cy="5486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7" name="Shape 156"/>
          <p:cNvSpPr/>
          <p:nvPr/>
        </p:nvSpPr>
        <p:spPr>
          <a:xfrm rot="10800000">
            <a:off x="8115300" y="5020056"/>
            <a:ext cx="100584" cy="100584"/>
          </a:xfrm>
          <a:prstGeom prst="triangle">
            <a:avLst/>
          </a:prstGeom>
          <a:solidFill>
            <a:srgbClr val="E46E19"/>
          </a:solidFill>
          <a:ln w="12700">
            <a:solidFill>
              <a:srgbClr val="E46E19">
                <a:alpha val="0"/>
              </a:srgbClr>
            </a:solidFill>
            <a:prstDash val="solid"/>
          </a:ln>
        </p:spPr>
      </p:sp>
      <p:sp>
        <p:nvSpPr>
          <p:cNvPr id="168" name="Shape 157"/>
          <p:cNvSpPr/>
          <p:nvPr/>
        </p:nvSpPr>
        <p:spPr>
          <a:xfrm>
            <a:off x="7406640" y="5120640"/>
            <a:ext cx="1124712" cy="1051560"/>
          </a:xfrm>
          <a:prstGeom prst="roundRect">
            <a:avLst>
              <a:gd name="adj" fmla="val 6087"/>
            </a:avLst>
          </a:prstGeom>
          <a:solidFill>
            <a:srgbClr val="FFFDF9"/>
          </a:solidFill>
          <a:ln w="12700">
            <a:solidFill>
              <a:srgbClr val="E46E19"/>
            </a:solidFill>
            <a:prstDash val="solid"/>
          </a:ln>
        </p:spPr>
      </p:sp>
      <p:sp>
        <p:nvSpPr>
          <p:cNvPr id="169" name="Text 158"/>
          <p:cNvSpPr/>
          <p:nvPr/>
        </p:nvSpPr>
        <p:spPr>
          <a:xfrm>
            <a:off x="7534656" y="5303520"/>
            <a:ext cx="8503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 gate</a:t>
            </a:r>
            <a:endParaRPr lang="en-US" sz="1110" dirty="0"/>
          </a:p>
        </p:txBody>
      </p:sp>
      <p:sp>
        <p:nvSpPr>
          <p:cNvPr id="170" name="Text 159"/>
          <p:cNvSpPr/>
          <p:nvPr/>
        </p:nvSpPr>
        <p:spPr>
          <a:xfrm>
            <a:off x="7543800" y="5605272"/>
            <a:ext cx="841248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mask-aware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high-order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930" dirty="0"/>
          </a:p>
        </p:txBody>
      </p:sp>
      <p:sp>
        <p:nvSpPr>
          <p:cNvPr id="171" name="Shape 160"/>
          <p:cNvSpPr/>
          <p:nvPr/>
        </p:nvSpPr>
        <p:spPr>
          <a:xfrm>
            <a:off x="6922008" y="6464808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EAF8E7"/>
          </a:solidFill>
          <a:ln w="12700">
            <a:solidFill>
              <a:srgbClr val="EAF8E7"/>
            </a:solidFill>
            <a:prstDash val="solid"/>
          </a:ln>
        </p:spPr>
      </p:sp>
      <p:pic>
        <p:nvPicPr>
          <p:cNvPr id="172" name="Image 9" descr="/mnt/data/semantic_icons_v11/bulb_sma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6016" y="6547104"/>
            <a:ext cx="192024" cy="192024"/>
          </a:xfrm>
          <a:prstGeom prst="rect">
            <a:avLst/>
          </a:prstGeom>
        </p:spPr>
      </p:pic>
      <p:sp>
        <p:nvSpPr>
          <p:cNvPr id="173" name="Text 161"/>
          <p:cNvSpPr/>
          <p:nvPr/>
        </p:nvSpPr>
        <p:spPr>
          <a:xfrm>
            <a:off x="7260336" y="6547104"/>
            <a:ext cx="150876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CHOP only when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evidence helps</a:t>
            </a:r>
            <a:endParaRPr lang="en-US" sz="780" dirty="0"/>
          </a:p>
        </p:txBody>
      </p:sp>
      <p:pic>
        <p:nvPicPr>
          <p:cNvPr id="174" name="Image 10" descr="/mnt/data/semantic_icons_v11/serverd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7192" y="2404872"/>
            <a:ext cx="1115568" cy="1261872"/>
          </a:xfrm>
          <a:prstGeom prst="rect">
            <a:avLst/>
          </a:prstGeom>
        </p:spPr>
      </p:pic>
      <p:sp>
        <p:nvSpPr>
          <p:cNvPr id="175" name="Text 162"/>
          <p:cNvSpPr/>
          <p:nvPr/>
        </p:nvSpPr>
        <p:spPr>
          <a:xfrm>
            <a:off x="9418320" y="4014216"/>
            <a:ext cx="12801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class-wise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statistics</a:t>
            </a:r>
            <a:endParaRPr lang="en-US" sz="920" dirty="0"/>
          </a:p>
        </p:txBody>
      </p:sp>
      <p:sp>
        <p:nvSpPr>
          <p:cNvPr id="176" name="Shape 163"/>
          <p:cNvSpPr/>
          <p:nvPr/>
        </p:nvSpPr>
        <p:spPr>
          <a:xfrm>
            <a:off x="9326880" y="4837176"/>
            <a:ext cx="1463040" cy="0"/>
          </a:xfrm>
          <a:prstGeom prst="line">
            <a:avLst/>
          </a:prstGeom>
          <a:solidFill>
            <a:srgbClr val="FFFFFF">
              <a:alpha val="0"/>
            </a:srgbClr>
          </a:solidFill>
          <a:ln w="11430">
            <a:solidFill>
              <a:srgbClr val="8C89C5"/>
            </a:solidFill>
            <a:prstDash val="solid"/>
          </a:ln>
        </p:spPr>
      </p:sp>
      <p:pic>
        <p:nvPicPr>
          <p:cNvPr id="177" name="Image 11" descr="/mnt/data/semantic_icons_v11/magnif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0032" y="5239512"/>
            <a:ext cx="320040" cy="320040"/>
          </a:xfrm>
          <a:prstGeom prst="rect">
            <a:avLst/>
          </a:prstGeom>
        </p:spPr>
      </p:pic>
      <p:sp>
        <p:nvSpPr>
          <p:cNvPr id="178" name="Text 164"/>
          <p:cNvSpPr/>
          <p:nvPr/>
        </p:nvSpPr>
        <p:spPr>
          <a:xfrm>
            <a:off x="9820656" y="5340096"/>
            <a:ext cx="996696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comparison</a:t>
            </a:r>
            <a:endParaRPr lang="en-US" sz="760" dirty="0"/>
          </a:p>
        </p:txBody>
      </p:sp>
      <p:pic>
        <p:nvPicPr>
          <p:cNvPr id="179" name="Image 12" descr="/mnt/data/semantic_icons_v11/bar_ic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0032" y="5769864"/>
            <a:ext cx="320040" cy="320040"/>
          </a:xfrm>
          <a:prstGeom prst="rect">
            <a:avLst/>
          </a:prstGeom>
        </p:spPr>
      </p:pic>
      <p:sp>
        <p:nvSpPr>
          <p:cNvPr id="180" name="Text 165"/>
          <p:cNvSpPr/>
          <p:nvPr/>
        </p:nvSpPr>
        <p:spPr>
          <a:xfrm>
            <a:off x="9820656" y="5870448"/>
            <a:ext cx="877824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statistics</a:t>
            </a:r>
            <a:endParaRPr lang="en-US" sz="760" dirty="0"/>
          </a:p>
        </p:txBody>
      </p:sp>
      <p:pic>
        <p:nvPicPr>
          <p:cNvPr id="181" name="Image 13" descr="/mnt/data/semantic_icons_v11/targe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00032" y="6300216"/>
            <a:ext cx="320040" cy="320040"/>
          </a:xfrm>
          <a:prstGeom prst="rect">
            <a:avLst/>
          </a:prstGeom>
        </p:spPr>
      </p:pic>
      <p:sp>
        <p:nvSpPr>
          <p:cNvPr id="182" name="Text 166"/>
          <p:cNvSpPr/>
          <p:nvPr/>
        </p:nvSpPr>
        <p:spPr>
          <a:xfrm>
            <a:off x="9820656" y="6400800"/>
            <a:ext cx="987552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distances + prediction</a:t>
            </a:r>
            <a:endParaRPr lang="en-US" sz="760" dirty="0"/>
          </a:p>
        </p:txBody>
      </p:sp>
      <p:sp>
        <p:nvSpPr>
          <p:cNvPr id="183" name="Shape 167"/>
          <p:cNvSpPr/>
          <p:nvPr/>
        </p:nvSpPr>
        <p:spPr>
          <a:xfrm>
            <a:off x="11356848" y="2194560"/>
            <a:ext cx="1664208" cy="512064"/>
          </a:xfrm>
          <a:prstGeom prst="roundRect">
            <a:avLst>
              <a:gd name="adj" fmla="val 9821"/>
            </a:avLst>
          </a:prstGeom>
          <a:solidFill>
            <a:srgbClr val="F6F6F6"/>
          </a:solidFill>
          <a:ln w="10414">
            <a:solidFill>
              <a:srgbClr val="A9A9A9"/>
            </a:solidFill>
            <a:prstDash val="solid"/>
          </a:ln>
        </p:spPr>
      </p:sp>
      <p:pic>
        <p:nvPicPr>
          <p:cNvPr id="184" name="Image 14" descr="/mnt/data/semantic_icons_v11/no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66576" y="2313432"/>
            <a:ext cx="274320" cy="274320"/>
          </a:xfrm>
          <a:prstGeom prst="rect">
            <a:avLst/>
          </a:prstGeom>
        </p:spPr>
      </p:pic>
      <p:sp>
        <p:nvSpPr>
          <p:cNvPr id="185" name="Text 168"/>
          <p:cNvSpPr/>
          <p:nvPr/>
        </p:nvSpPr>
        <p:spPr>
          <a:xfrm>
            <a:off x="11887200" y="2340864"/>
            <a:ext cx="8412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no-schema</a:t>
            </a:r>
            <a:endParaRPr lang="en-US" sz="920" dirty="0"/>
          </a:p>
        </p:txBody>
      </p:sp>
      <p:sp>
        <p:nvSpPr>
          <p:cNvPr id="186" name="Shape 169"/>
          <p:cNvSpPr/>
          <p:nvPr/>
        </p:nvSpPr>
        <p:spPr>
          <a:xfrm>
            <a:off x="11356848" y="2944368"/>
            <a:ext cx="1664208" cy="512064"/>
          </a:xfrm>
          <a:prstGeom prst="roundRect">
            <a:avLst>
              <a:gd name="adj" fmla="val 9821"/>
            </a:avLst>
          </a:prstGeom>
          <a:solidFill>
            <a:srgbClr val="F6F6F6"/>
          </a:solidFill>
          <a:ln w="10414">
            <a:solidFill>
              <a:srgbClr val="A9A9A9"/>
            </a:solidFill>
            <a:prstDash val="solid"/>
          </a:ln>
        </p:spPr>
      </p:sp>
      <p:pic>
        <p:nvPicPr>
          <p:cNvPr id="187" name="Image 15" descr="/mnt/data/semantic_icons_v11/zero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66576" y="3063240"/>
            <a:ext cx="274320" cy="274320"/>
          </a:xfrm>
          <a:prstGeom prst="rect">
            <a:avLst/>
          </a:prstGeom>
        </p:spPr>
      </p:pic>
      <p:sp>
        <p:nvSpPr>
          <p:cNvPr id="188" name="Text 170"/>
          <p:cNvSpPr/>
          <p:nvPr/>
        </p:nvSpPr>
        <p:spPr>
          <a:xfrm>
            <a:off x="11887200" y="3090672"/>
            <a:ext cx="8412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zero-fill</a:t>
            </a:r>
            <a:endParaRPr lang="en-US" sz="920" dirty="0"/>
          </a:p>
        </p:txBody>
      </p:sp>
      <p:sp>
        <p:nvSpPr>
          <p:cNvPr id="189" name="Shape 171"/>
          <p:cNvSpPr/>
          <p:nvPr/>
        </p:nvSpPr>
        <p:spPr>
          <a:xfrm>
            <a:off x="11356848" y="3694176"/>
            <a:ext cx="1664208" cy="512064"/>
          </a:xfrm>
          <a:prstGeom prst="roundRect">
            <a:avLst>
              <a:gd name="adj" fmla="val 9821"/>
            </a:avLst>
          </a:prstGeom>
          <a:solidFill>
            <a:srgbClr val="F6F6F6"/>
          </a:solidFill>
          <a:ln w="10414">
            <a:solidFill>
              <a:srgbClr val="A9A9A9"/>
            </a:solidFill>
            <a:prstDash val="solid"/>
          </a:ln>
        </p:spPr>
      </p:sp>
      <p:pic>
        <p:nvPicPr>
          <p:cNvPr id="190" name="Image 16" descr="/mnt/data/semantic_icons_v11/inf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66576" y="3813048"/>
            <a:ext cx="274320" cy="274320"/>
          </a:xfrm>
          <a:prstGeom prst="rect">
            <a:avLst/>
          </a:prstGeom>
        </p:spPr>
      </p:pic>
      <p:sp>
        <p:nvSpPr>
          <p:cNvPr id="191" name="Text 172"/>
          <p:cNvSpPr/>
          <p:nvPr/>
        </p:nvSpPr>
        <p:spPr>
          <a:xfrm>
            <a:off x="11887200" y="3840480"/>
            <a:ext cx="8412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mask-only</a:t>
            </a:r>
            <a:endParaRPr lang="en-US" sz="920" dirty="0"/>
          </a:p>
        </p:txBody>
      </p:sp>
      <p:sp>
        <p:nvSpPr>
          <p:cNvPr id="192" name="Shape 173"/>
          <p:cNvSpPr/>
          <p:nvPr/>
        </p:nvSpPr>
        <p:spPr>
          <a:xfrm>
            <a:off x="11356848" y="4443984"/>
            <a:ext cx="1664208" cy="512064"/>
          </a:xfrm>
          <a:prstGeom prst="roundRect">
            <a:avLst>
              <a:gd name="adj" fmla="val 9821"/>
            </a:avLst>
          </a:prstGeom>
          <a:solidFill>
            <a:srgbClr val="F6F6F6"/>
          </a:solidFill>
          <a:ln w="10414">
            <a:solidFill>
              <a:srgbClr val="A9A9A9"/>
            </a:solidFill>
            <a:prstDash val="solid"/>
          </a:ln>
        </p:spPr>
      </p:sp>
      <p:pic>
        <p:nvPicPr>
          <p:cNvPr id="193" name="Image 17" descr="/mnt/data/semantic_icons_v11/ey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66576" y="4562856"/>
            <a:ext cx="274320" cy="274320"/>
          </a:xfrm>
          <a:prstGeom prst="rect">
            <a:avLst/>
          </a:prstGeom>
        </p:spPr>
      </p:pic>
      <p:sp>
        <p:nvSpPr>
          <p:cNvPr id="194" name="Text 174"/>
          <p:cNvSpPr/>
          <p:nvPr/>
        </p:nvSpPr>
        <p:spPr>
          <a:xfrm>
            <a:off x="11887200" y="4590288"/>
            <a:ext cx="8412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shared-view</a:t>
            </a:r>
            <a:endParaRPr lang="en-US" sz="920" dirty="0"/>
          </a:p>
        </p:txBody>
      </p:sp>
      <p:sp>
        <p:nvSpPr>
          <p:cNvPr id="195" name="Shape 175"/>
          <p:cNvSpPr/>
          <p:nvPr/>
        </p:nvSpPr>
        <p:spPr>
          <a:xfrm>
            <a:off x="11375136" y="5586984"/>
            <a:ext cx="1627632" cy="0"/>
          </a:xfrm>
          <a:prstGeom prst="line">
            <a:avLst/>
          </a:prstGeom>
          <a:solidFill>
            <a:srgbClr val="FFFFFF">
              <a:alpha val="0"/>
            </a:srgbClr>
          </a:solidFill>
          <a:ln w="11430">
            <a:solidFill>
              <a:srgbClr val="BFBFBF"/>
            </a:solidFill>
            <a:prstDash val="solid"/>
          </a:ln>
        </p:spPr>
      </p:sp>
      <p:pic>
        <p:nvPicPr>
          <p:cNvPr id="196" name="Image 18" descr="/mnt/data/semantic_icons_v11/shield_gra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39144" y="5879592"/>
            <a:ext cx="347472" cy="347472"/>
          </a:xfrm>
          <a:prstGeom prst="rect">
            <a:avLst/>
          </a:prstGeom>
        </p:spPr>
      </p:pic>
      <p:sp>
        <p:nvSpPr>
          <p:cNvPr id="197" name="Text 176"/>
          <p:cNvSpPr/>
          <p:nvPr/>
        </p:nvSpPr>
        <p:spPr>
          <a:xfrm>
            <a:off x="11850624" y="5907024"/>
            <a:ext cx="10058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whether gains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from semantic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comparability</a:t>
            </a:r>
            <a:endParaRPr lang="en-US" sz="830" dirty="0"/>
          </a:p>
        </p:txBody>
      </p:sp>
      <p:sp>
        <p:nvSpPr>
          <p:cNvPr id="198" name="Shape 177"/>
          <p:cNvSpPr/>
          <p:nvPr/>
        </p:nvSpPr>
        <p:spPr>
          <a:xfrm>
            <a:off x="685800" y="7424928"/>
            <a:ext cx="12252960" cy="1325880"/>
          </a:xfrm>
          <a:prstGeom prst="roundRect">
            <a:avLst>
              <a:gd name="adj" fmla="val 6207"/>
            </a:avLst>
          </a:prstGeom>
          <a:solidFill>
            <a:srgbClr val="FFF9EE"/>
          </a:solidFill>
          <a:ln w="12700">
            <a:solidFill>
              <a:srgbClr val="EEA12E"/>
            </a:solidFill>
            <a:prstDash val="solid"/>
          </a:ln>
          <a:effectLst>
            <a:outerShdw sx="100000" sy="100000" kx="0" ky="0" algn="bl" rotWithShape="0" blurRad="15240" dist="50800" dir="2700000">
              <a:srgbClr val="C7CCD4">
                <a:alpha val="14000"/>
              </a:srgbClr>
            </a:outerShdw>
          </a:effectLst>
        </p:spPr>
      </p:sp>
      <p:sp>
        <p:nvSpPr>
          <p:cNvPr id="200" name="Text 178"/>
          <p:cNvSpPr/>
          <p:nvPr/>
        </p:nvSpPr>
        <p:spPr>
          <a:xfrm>
            <a:off x="2514600" y="7680960"/>
            <a:ext cx="10241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D65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</a:t>
            </a:r>
            <a:endParaRPr lang="en-US" sz="1720" dirty="0"/>
          </a:p>
        </p:txBody>
      </p:sp>
      <p:sp>
        <p:nvSpPr>
          <p:cNvPr id="201" name="Text 179"/>
          <p:cNvSpPr/>
          <p:nvPr/>
        </p:nvSpPr>
        <p:spPr>
          <a:xfrm>
            <a:off x="3657600" y="7708392"/>
            <a:ext cx="74066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31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fusion requires semantically named coordinates, not anonymous vector positions.</a:t>
            </a:r>
            <a:endParaRPr lang="en-US" sz="1315" dirty="0"/>
          </a:p>
        </p:txBody>
      </p:sp>
      <p:sp>
        <p:nvSpPr>
          <p:cNvPr id="202" name="Text 180"/>
          <p:cNvSpPr/>
          <p:nvPr/>
        </p:nvSpPr>
        <p:spPr>
          <a:xfrm>
            <a:off x="3657600" y="8183880"/>
            <a:ext cx="7315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9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QProto first makes local statistics comparable, then performs coverage-aware fusion;</a:t>
            </a:r>
            <a:endParaRPr lang="en-US" sz="1195" dirty="0"/>
          </a:p>
          <a:p>
            <a:pPr algn="l" indent="0" marL="0">
              <a:buNone/>
            </a:pPr>
            <a:r>
              <a:rPr lang="en-US" sz="1195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 is an optional train-gated extension for interaction-dominated tasks.</a:t>
            </a:r>
            <a:endParaRPr lang="en-US" sz="1195" dirty="0"/>
          </a:p>
        </p:txBody>
      </p:sp>
      <p:pic>
        <p:nvPicPr>
          <p:cNvPr id="203" name="Picture 202" descr="image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2688" y="7653527"/>
            <a:ext cx="1417320" cy="987552"/>
          </a:xfrm>
          <a:prstGeom prst="rect">
            <a:avLst/>
          </a:prstGeom>
        </p:spPr>
      </p:pic>
      <p:pic>
        <p:nvPicPr>
          <p:cNvPr id="204" name="Picture 203" descr="image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722608" y="7644383"/>
            <a:ext cx="1097280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2026-06-15T20:34:43Z</dcterms:created>
  <dcterms:modified xsi:type="dcterms:W3CDTF">2026-06-15T20:34:43Z</dcterms:modified>
</cp:coreProperties>
</file>